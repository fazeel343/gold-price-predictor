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zeel Muhammad Mirza" userId="2d000908-e620-4c08-a1b2-7ac9dceb3f85" providerId="ADAL" clId="{60410BE6-B8FF-4BC0-8AF5-BD396AF38246}"/>
    <pc:docChg chg="modSld">
      <pc:chgData name="Fazeel Muhammad Mirza" userId="2d000908-e620-4c08-a1b2-7ac9dceb3f85" providerId="ADAL" clId="{60410BE6-B8FF-4BC0-8AF5-BD396AF38246}" dt="2026-04-26T11:17:38.974" v="1" actId="20577"/>
      <pc:docMkLst>
        <pc:docMk/>
      </pc:docMkLst>
      <pc:sldChg chg="modSp mod">
        <pc:chgData name="Fazeel Muhammad Mirza" userId="2d000908-e620-4c08-a1b2-7ac9dceb3f85" providerId="ADAL" clId="{60410BE6-B8FF-4BC0-8AF5-BD396AF38246}" dt="2026-04-26T11:17:38.974" v="1" actId="20577"/>
        <pc:sldMkLst>
          <pc:docMk/>
          <pc:sldMk cId="0" sldId="256"/>
        </pc:sldMkLst>
        <pc:spChg chg="mod">
          <ac:chgData name="Fazeel Muhammad Mirza" userId="2d000908-e620-4c08-a1b2-7ac9dceb3f85" providerId="ADAL" clId="{60410BE6-B8FF-4BC0-8AF5-BD396AF38246}" dt="2026-04-26T11:17:38.974" v="1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8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Gold Price Predictor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Prize Predictor Project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926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Fazeel Muhammad  |  Muhammad Salman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Atif Luqman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Project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60520" cy="1508760"/>
          </a:xfrm>
          <a:prstGeom prst="rect">
            <a:avLst/>
          </a:prstGeom>
          <a:solidFill>
            <a:srgbClr val="F7F5EE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64008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gold prices in USD &amp; PKR for 2025–2028 using 10 years of historical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4160520" cy="1508760"/>
          </a:xfrm>
          <a:prstGeom prst="rect">
            <a:avLst/>
          </a:prstGeom>
          <a:solidFill>
            <a:srgbClr val="F7F5EE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834640"/>
            <a:ext cx="64008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Models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&amp; Random Forest trained on market indicators and price history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4160520" cy="1508760"/>
          </a:xfrm>
          <a:prstGeom prst="rect">
            <a:avLst/>
          </a:prstGeom>
          <a:solidFill>
            <a:srgbClr val="F7F5EE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143000"/>
            <a:ext cx="64008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801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 Range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2014 – December 2024 (monthly data stored in SQLite database)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60520" cy="1508760"/>
          </a:xfrm>
          <a:prstGeom prst="rect">
            <a:avLst/>
          </a:prstGeom>
          <a:solidFill>
            <a:srgbClr val="F7F5EE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834640"/>
            <a:ext cx="64008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718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Result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achieved R² = 0.9796 — explains 98% of gold price variance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Data &amp; EDA (2014–2024)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12064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577840" y="1600200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70448" y="157276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(USD): $1,200 → $2,650/oz (+121%)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577840" y="2221992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0448" y="2194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(PKR): 120K → 720K/oz (+500%)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77840" y="2843784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70448" y="28163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Rate: 100 → 280 per USD (+180%)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577840" y="3465576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70448" y="34381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PKR devaluation visible in 2022–23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577840" y="4087368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70448" y="405993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depreciation is the key PKR amplifier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577840" y="4681728"/>
            <a:ext cx="3291840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46817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 in SQLite DB — Gold_Prices, Market_Indicators, Predictions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Correlation Analysis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39319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1051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0" y="1554480"/>
            <a:ext cx="914400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0" y="155448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23560" y="157276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Rate ↔ PKR Gold Price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correlation — PKR depreciation drives local gold prices)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0" y="2560320"/>
            <a:ext cx="914400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256032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623560" y="257860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Price ↔ Stock Index &amp; PKR Price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market linkage confirmed)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0" y="3566160"/>
            <a:ext cx="914400" cy="685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356616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23560" y="358444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Rate ↔ USD Gold Price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 but still strong global-local linkage)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0" y="4526280"/>
            <a:ext cx="429768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452628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correlations &gt; 0.88  —  Features are highly informative for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4630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00200"/>
            <a:ext cx="457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2763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Month_Num (trend)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48840"/>
            <a:ext cx="457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7627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(seasonality)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29968" y="1051560"/>
            <a:ext cx="146304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9968" y="10515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Lags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29968" y="160020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9968" y="1600200"/>
            <a:ext cx="457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39696" y="162763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Price_Lag1 (1-mo momentum)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29968" y="214884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29968" y="2148840"/>
            <a:ext cx="457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9696" y="217627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Price_Lag3 (3-mo momentum)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85616" y="1051560"/>
            <a:ext cx="1463040" cy="4389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85616" y="10515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Avg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85616" y="160020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85616" y="1600200"/>
            <a:ext cx="4572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95344" y="162763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MA_3 (3-month mean)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85616" y="214884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85616" y="2148840"/>
            <a:ext cx="4572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95344" y="217627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MA_6 (6-month mean)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41264" y="1051560"/>
            <a:ext cx="146304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41264" y="10515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41264" y="160020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41264" y="1600200"/>
            <a:ext cx="4572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162763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PKR_Lag1 (currency lag)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41264" y="214884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41264" y="2148840"/>
            <a:ext cx="4572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217627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currency_rate (current)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96912" y="1051560"/>
            <a:ext cx="1463040" cy="43891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96912" y="105156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296912" y="160020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96912" y="1600200"/>
            <a:ext cx="45720" cy="45720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162763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stock_index (S&amp;P 500)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96912" y="214884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96912" y="2148840"/>
            <a:ext cx="45720" cy="45720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2176272"/>
            <a:ext cx="13350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market data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880360"/>
            <a:ext cx="859536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880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Feature Engineering: Dropped 'other_factors' (121 NaN values) → Clean dataset used for training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7432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4320" y="3931920"/>
            <a:ext cx="658368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9319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Set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shuffle=False — preserves temporal order for realistic evaluation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&amp;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566160"/>
          </a:xfrm>
          <a:prstGeom prst="rect">
            <a:avLst/>
          </a:prstGeom>
          <a:solidFill>
            <a:srgbClr val="F7F5EE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645920"/>
            <a:ext cx="173736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164592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0.9796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096719"/>
            <a:ext cx="1645920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645920"/>
            <a:ext cx="1920240" cy="777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1719072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BEST MODEL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331720" y="2096719"/>
            <a:ext cx="1828800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146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~$41.20
</a:t>
            </a: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~$31.50
</a:t>
            </a: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linear long-term gold trend perfectly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" y="4160520"/>
            <a:ext cx="374904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160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98% of gold price variance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4023360" cy="3566160"/>
          </a:xfrm>
          <a:prstGeom prst="rect">
            <a:avLst/>
          </a:prstGeom>
          <a:solidFill>
            <a:srgbClr val="F7F5EE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05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(200 trees)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83480" y="1645920"/>
            <a:ext cx="1737360" cy="77724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719072"/>
            <a:ext cx="164592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0.9213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0" y="2096719"/>
            <a:ext cx="1645920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645920"/>
            <a:ext cx="1920240" cy="777240"/>
          </a:xfrm>
          <a:prstGeom prst="rect">
            <a:avLst/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719072"/>
            <a:ext cx="1828800" cy="42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max_depth=10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03720" y="2173529"/>
            <a:ext cx="1828800" cy="29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5146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~$89.50
</a:t>
            </a: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~$62.30
</a:t>
            </a:r>
            <a:r>
              <a:rPr lang="en-US" sz="12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training patterns; less accurate on extrapolation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983480" y="4160520"/>
            <a:ext cx="3749040" cy="32004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160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92% of gold price variance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Price Forecast: 2025–2028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0120"/>
            <a:ext cx="859536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754880"/>
            <a:ext cx="4114800" cy="2286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754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USD: ~$2,690 → ~$2,752/oz (+2.3%)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4754880"/>
            <a:ext cx="41148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0" y="4754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PKR: ~750,000 → ~870,500/oz (+16%)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Milestones &amp; Forecast Details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2880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1005840"/>
            <a:ext cx="21031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0058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oz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06240" y="1005840"/>
            <a:ext cx="210312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0058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Rate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283464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0058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/ oz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38988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898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138988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13898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$2,690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6240" y="138988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3898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279.1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1389888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3898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750,900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1847088"/>
            <a:ext cx="182880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8470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1847088"/>
            <a:ext cx="210312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18470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1847088"/>
            <a:ext cx="210312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18470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283.4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847088"/>
            <a:ext cx="283464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8470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765,200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30428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3042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03120" y="230428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23042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$2,715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06240" y="230428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23042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287.5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2304288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3042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780,600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2761488"/>
            <a:ext cx="182880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7614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03120" y="2761488"/>
            <a:ext cx="210312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27614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$2,728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206240" y="2761488"/>
            <a:ext cx="210312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27614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297.3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2761488"/>
            <a:ext cx="283464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7614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811,000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321868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2186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2027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103120" y="321868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48840" y="32186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$2,736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206240" y="321868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51960" y="32186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302.0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309360" y="3218688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32186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826,500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3675888"/>
            <a:ext cx="182880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6758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2028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103120" y="3675888"/>
            <a:ext cx="210312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48840" y="36758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$2,743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206240" y="3675888"/>
            <a:ext cx="210312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51960" y="36758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306.6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309360" y="3675888"/>
            <a:ext cx="2834640" cy="438912"/>
          </a:xfrm>
          <a:prstGeom prst="rect">
            <a:avLst/>
          </a:prstGeom>
          <a:solidFill>
            <a:srgbClr val="EEECE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36758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841,000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74320" y="413308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13308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2028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103120" y="413308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48840" y="41330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$2,752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206240" y="4133088"/>
            <a:ext cx="2103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51960" y="41330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316.3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309360" y="4133088"/>
            <a:ext cx="2834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55080" y="413308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870,500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7% Confidence Band applied on all forecasts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gold_predictor.db  (SQLite)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432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00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Gold_Prices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84248"/>
            <a:ext cx="27432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984248"/>
            <a:ext cx="457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002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(PK)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6829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68296"/>
            <a:ext cx="457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865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(USD/oz)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52344"/>
            <a:ext cx="27432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752344"/>
            <a:ext cx="457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70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Gold_Price_PKR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60020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600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Market_Indicators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1984248"/>
            <a:ext cx="27432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984248"/>
            <a:ext cx="457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002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(PK)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36829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368296"/>
            <a:ext cx="457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3865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stock_index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752344"/>
            <a:ext cx="27432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752344"/>
            <a:ext cx="457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770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currency_rate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3136392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3136392"/>
            <a:ext cx="457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154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other_factors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1600200"/>
            <a:ext cx="2743200" cy="38404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600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17920" y="1984248"/>
            <a:ext cx="27432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1984248"/>
            <a:ext cx="45720" cy="38404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2002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236829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2368296"/>
            <a:ext cx="45720" cy="38404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23865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(YYYY-MM)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2752344"/>
            <a:ext cx="27432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2752344"/>
            <a:ext cx="45720" cy="384048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70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predicted_price (PKR)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17520" y="3108960"/>
            <a:ext cx="868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3108960"/>
            <a:ext cx="8686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023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JOIN → Training → Model → INSERT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prediction records saved (Jan 2025 – Dec 2028)  |  Old predictions cleared before each new run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Code Pipeline (9 Blocks)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" y="1051560"/>
            <a:ext cx="8686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051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1247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" y="171907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7373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" y="2212848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sklearn, sqlite3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20140" y="1051560"/>
            <a:ext cx="868680" cy="5029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0140" y="1051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88820" y="11247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20140" y="171907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0140" y="17373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28700" y="2212848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DataFrame → Merge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03120" y="1051560"/>
            <a:ext cx="86868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051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71800" y="11247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103120" y="171907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17373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2212848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plots + Correlation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86100" y="1051560"/>
            <a:ext cx="86868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86100" y="1051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954780" y="11247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086100" y="171907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86100" y="17373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94660" y="2212848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Lags, Rolling Avg, Time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69080" y="1051560"/>
            <a:ext cx="868680" cy="50292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1051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937760" y="11247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069080" y="171907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17373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977640" y="2212848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RF → Evaluate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52060" y="1051560"/>
            <a:ext cx="868680" cy="50292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52060" y="1051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920740" y="11247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52060" y="171907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2060" y="17373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60620" y="2212848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2025–2028 forecast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35040" y="1051560"/>
            <a:ext cx="868680" cy="50292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1051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903720" y="11247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035040" y="171907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0" y="17373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43600" y="2212848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&amp; PKR forecast charts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018020" y="1051560"/>
            <a:ext cx="86868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18020" y="1051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7886700" y="1124712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A017"/>
                </a:solidFill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018020" y="171907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18020" y="17373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DB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26580" y="2212848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Predictions table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001000" y="1051560"/>
            <a:ext cx="868680" cy="502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01000" y="1051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8001000" y="1719072"/>
            <a:ext cx="868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01000" y="17373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909560" y="2212848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metrics + milestones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74320" y="3108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274320" y="3520440"/>
            <a:ext cx="1143000" cy="38404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35204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508760" y="3520440"/>
            <a:ext cx="1143000" cy="38404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508760" y="35204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743200" y="3520440"/>
            <a:ext cx="1143000" cy="38404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0" y="35204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977640" y="3520440"/>
            <a:ext cx="1143000" cy="38404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77640" y="35204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212080" y="3520440"/>
            <a:ext cx="1143000" cy="38404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12080" y="35204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446520" y="3520440"/>
            <a:ext cx="1143000" cy="38404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6520" y="35204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680960" y="3520440"/>
            <a:ext cx="1143000" cy="38404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80960" y="352044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74320" y="4251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Files: gold_historical_data.png  |  correlation_matrix.png  |  gold_price_forecast_2028.png  |  gold_predictor.db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 Findings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90472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63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(R²=0.9796) outperformed RF — gold trend is fundamentally linear over long term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112264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8483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depreciation is the main driver of local gold price increases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734056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70662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(USD) projected: $2,690 → $2,752/oz over 4 years (+2.3%)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355848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32841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(PKR) projected: 750K → 870K/oz (+16%) due to currency effect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977640"/>
            <a:ext cx="201168" cy="20116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9502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monthly predictions saved to SQLite database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05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Future Enhancements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1490472"/>
            <a:ext cx="201168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1463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CPI, Fed interest rates, and oil prices as 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112264"/>
            <a:ext cx="201168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208483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LSTM neural networks for time-series forecasting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734056"/>
            <a:ext cx="201168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93792" y="2706624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data pipeline with gold price APIs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355848"/>
            <a:ext cx="201168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3328416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Streamlit/Flask web dashboard for live predictions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977640"/>
            <a:ext cx="201168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395020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sudden PKR devaluation scenarios explicitly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103120"/>
            <a:ext cx="2743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C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Gold Price Predictor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Fazeel Muhammad  |  Muhammad Salman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Atif Luqman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885</Words>
  <Application>Microsoft Office PowerPoint</Application>
  <PresentationFormat>On-screen Show (16:9)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Gold Price Predictor</dc:title>
  <dc:subject>PptxGenJS Presentation</dc:subject>
  <dc:creator>Fazeel Muhammad &amp; Muhammad Salman</dc:creator>
  <cp:lastModifiedBy>Fazeel Muhammad Mirza</cp:lastModifiedBy>
  <cp:revision>2</cp:revision>
  <dcterms:created xsi:type="dcterms:W3CDTF">2026-04-25T17:20:11Z</dcterms:created>
  <dcterms:modified xsi:type="dcterms:W3CDTF">2026-04-26T11:18:22Z</dcterms:modified>
</cp:coreProperties>
</file>